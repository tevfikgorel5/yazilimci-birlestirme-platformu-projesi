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sldIdLst>
    <p:sldId id="256" r:id="rId2"/>
    <p:sldId id="257" r:id="rId3"/>
    <p:sldId id="258" r:id="rId4"/>
    <p:sldId id="259" r:id="rId5"/>
    <p:sldId id="260" r:id="rId6"/>
    <p:sldId id="261" r:id="rId7"/>
    <p:sldId id="262" r:id="rId8"/>
    <p:sldId id="265" r:id="rId9"/>
    <p:sldId id="269" r:id="rId10"/>
    <p:sldId id="270" r:id="rId11"/>
    <p:sldId id="271" r:id="rId12"/>
    <p:sldId id="272" r:id="rId13"/>
    <p:sldId id="273" r:id="rId14"/>
    <p:sldId id="276" r:id="rId15"/>
    <p:sldId id="277" r:id="rId16"/>
    <p:sldId id="27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vfik Görel" initials="TG" lastIdx="1" clrIdx="0">
    <p:extLst>
      <p:ext uri="{19B8F6BF-5375-455C-9EA6-DF929625EA0E}">
        <p15:presenceInfo xmlns:p15="http://schemas.microsoft.com/office/powerpoint/2012/main" userId="725a5306909b81f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660"/>
  </p:normalViewPr>
  <p:slideViewPr>
    <p:cSldViewPr snapToGrid="0" snapToObjects="1">
      <p:cViewPr>
        <p:scale>
          <a:sx n="131" d="100"/>
          <a:sy n="131" d="100"/>
        </p:scale>
        <p:origin x="1052" y="1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0148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1038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769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tr-TR"/>
              <a:t>Asıl başlık stilini düzenlemek için tıklayın</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8099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Content Placeholder 3"/>
          <p:cNvSpPr>
            <a:spLocks noGrp="1"/>
          </p:cNvSpPr>
          <p:nvPr>
            <p:ph sz="quarter" idx="13"/>
          </p:nvPr>
        </p:nvSpPr>
        <p:spPr>
          <a:xfrm>
            <a:off x="685331" y="3051013"/>
            <a:ext cx="3829520" cy="274018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3" name="Content Placeholder 5"/>
          <p:cNvSpPr>
            <a:spLocks noGrp="1"/>
          </p:cNvSpPr>
          <p:nvPr>
            <p:ph sz="quarter" idx="14"/>
          </p:nvPr>
        </p:nvSpPr>
        <p:spPr>
          <a:xfrm>
            <a:off x="4629150" y="3051013"/>
            <a:ext cx="3829051" cy="274018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208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9569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77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tr-TR"/>
              <a:t>Asıl başlık stilini düzenlemek için tıklayın</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4438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7516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1566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9000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25461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3963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5BCAD085-E8A6-8845-BD4E-CB4CCA059FC4}"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3130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5BCAD085-E8A6-8845-BD4E-CB4CCA059FC4}"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5452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8967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tr-TR"/>
              <a:t>Asıl başlık stilini düzenlemek için tıklayın</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6186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6540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5BCAD085-E8A6-8845-BD4E-CB4CCA059FC4}" type="datetimeFigureOut">
              <a:rPr lang="en-US" smtClean="0"/>
              <a:t>4/6/2026</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49944688"/>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sz="4000" b="1" dirty="0">
                <a:effectLst>
                  <a:outerShdw blurRad="38100" dist="38100" dir="2700000" algn="tl">
                    <a:srgbClr val="000000">
                      <a:alpha val="43137"/>
                    </a:srgbClr>
                  </a:outerShdw>
                </a:effectLst>
              </a:rPr>
              <a:t>YAZILIMCI BİRLEŞTİRME PLATFORMU PROJESİ</a:t>
            </a:r>
            <a:endParaRPr sz="4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lgn="ctr">
              <a:buNone/>
            </a:pPr>
            <a:r>
              <a:rPr lang="tr-TR" b="1" dirty="0"/>
              <a:t>Dev-Sözlük ekibi:</a:t>
            </a:r>
          </a:p>
          <a:p>
            <a:pPr marL="0" indent="0" algn="ctr">
              <a:buNone/>
            </a:pPr>
            <a:r>
              <a:rPr lang="tr-TR" dirty="0"/>
              <a:t>Tevfik </a:t>
            </a:r>
            <a:r>
              <a:rPr lang="tr-TR" dirty="0" err="1"/>
              <a:t>Görel</a:t>
            </a:r>
            <a:endParaRPr lang="tr-TR" dirty="0"/>
          </a:p>
          <a:p>
            <a:pPr marL="0" indent="0" algn="ctr">
              <a:buNone/>
            </a:pPr>
            <a:r>
              <a:rPr lang="tr-TR" dirty="0"/>
              <a:t>Mert Sefa Taş</a:t>
            </a:r>
          </a:p>
          <a:p>
            <a:pPr marL="0" indent="0" algn="ctr">
              <a:buNone/>
            </a:pPr>
            <a:r>
              <a:rPr lang="tr-TR" dirty="0"/>
              <a:t>Sefa Koyuncu</a:t>
            </a:r>
          </a:p>
          <a:p>
            <a:pPr marL="0" indent="0" algn="ctr">
              <a:buNone/>
            </a:pPr>
            <a:r>
              <a:rPr lang="tr-TR" dirty="0"/>
              <a:t>Hamza Ergüven</a:t>
            </a:r>
          </a:p>
          <a:p>
            <a:endParaRPr lang="tr-TR" dirty="0"/>
          </a:p>
          <a:p>
            <a:pPr marL="0" indent="0" algn="ctr">
              <a:buNone/>
            </a:pPr>
            <a:r>
              <a:rPr lang="tr-TR" b="1" dirty="0"/>
              <a:t>YAZILIM MÜHENDİSLİĞİ DERSİ</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i="1" dirty="0" err="1"/>
              <a:t>Proje</a:t>
            </a:r>
            <a:r>
              <a:rPr lang="tr-TR" b="1" i="1" dirty="0"/>
              <a:t> Amacı</a:t>
            </a:r>
            <a:endParaRPr b="1" i="1" dirty="0"/>
          </a:p>
        </p:txBody>
      </p:sp>
      <p:sp>
        <p:nvSpPr>
          <p:cNvPr id="3" name="Content Placeholder 2"/>
          <p:cNvSpPr>
            <a:spLocks noGrp="1"/>
          </p:cNvSpPr>
          <p:nvPr>
            <p:ph idx="1"/>
          </p:nvPr>
        </p:nvSpPr>
        <p:spPr/>
        <p:txBody>
          <a:bodyPr>
            <a:normAutofit/>
          </a:bodyPr>
          <a:lstStyle/>
          <a:p>
            <a:pPr marL="0" indent="0">
              <a:buNone/>
            </a:pPr>
            <a:r>
              <a:rPr lang="tr-TR" cap="none" dirty="0"/>
              <a:t>Projenin temel amacı, yazılım geliştiricilerin bir araya gelerek bilgi paylaşımında bulunabileceği, sektörel konularda fikir alışverişi yapabileceği ve karşılaştıkları problemlere çözüm arayabileceği etkileşimli bir "yazılımcı birleştirme platformu" (</a:t>
            </a:r>
            <a:r>
              <a:rPr lang="tr-TR" cap="none" dirty="0" err="1"/>
              <a:t>devsözlük</a:t>
            </a:r>
            <a:r>
              <a:rPr lang="tr-TR" cap="none" dirty="0"/>
              <a:t>) geliştirmektir.</a:t>
            </a:r>
          </a:p>
          <a:p>
            <a:pPr marL="0" indent="0">
              <a:buNone/>
            </a:pPr>
            <a:r>
              <a:rPr lang="tr-TR" cap="none" dirty="0"/>
              <a:t> Bu platform, kullanıcıların belirli konular etrafında düzenli bir şekilde toplanmasını sağlayan "sözlük" (başlık-</a:t>
            </a:r>
            <a:r>
              <a:rPr lang="tr-TR" cap="none" dirty="0" err="1"/>
              <a:t>entry</a:t>
            </a:r>
            <a:r>
              <a:rPr lang="tr-TR" cap="none" dirty="0"/>
              <a:t>) yapısını temel almaktadır.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531542"/>
          </a:xfrm>
        </p:spPr>
        <p:txBody>
          <a:bodyPr>
            <a:normAutofit fontScale="90000"/>
          </a:bodyPr>
          <a:lstStyle/>
          <a:p>
            <a:pPr algn="ctr"/>
            <a:br>
              <a:rPr lang="tr-TR" b="1" i="1" dirty="0"/>
            </a:br>
            <a:r>
              <a:rPr b="1" i="1" dirty="0"/>
              <a:t>Problem </a:t>
            </a:r>
            <a:r>
              <a:rPr b="1" i="1" dirty="0" err="1"/>
              <a:t>Tanım</a:t>
            </a:r>
            <a:r>
              <a:rPr lang="tr-TR" b="1" i="1" dirty="0"/>
              <a:t>ı</a:t>
            </a:r>
            <a:br>
              <a:rPr lang="tr-TR" b="1" i="1" dirty="0"/>
            </a:br>
            <a:endParaRPr b="1" i="1" dirty="0"/>
          </a:p>
        </p:txBody>
      </p:sp>
      <p:sp>
        <p:nvSpPr>
          <p:cNvPr id="5" name="Rectangle 2">
            <a:extLst>
              <a:ext uri="{FF2B5EF4-FFF2-40B4-BE49-F238E27FC236}">
                <a16:creationId xmlns:a16="http://schemas.microsoft.com/office/drawing/2014/main" id="{7954E52A-E4D9-9895-64D7-04526C7BEAB2}"/>
              </a:ext>
            </a:extLst>
          </p:cNvPr>
          <p:cNvSpPr>
            <a:spLocks noGrp="1" noChangeArrowheads="1"/>
          </p:cNvSpPr>
          <p:nvPr>
            <p:ph idx="1"/>
          </p:nvPr>
        </p:nvSpPr>
        <p:spPr bwMode="auto">
          <a:xfrm>
            <a:off x="152400" y="1077583"/>
            <a:ext cx="88392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tr-TR" altLang="tr-TR" sz="1800" b="1" i="0" u="none" strike="noStrike" cap="none" normalizeH="0" baseline="0" dirty="0">
                <a:ln>
                  <a:noFill/>
                </a:ln>
                <a:solidFill>
                  <a:srgbClr val="FF0000"/>
                </a:solidFill>
                <a:effectLst/>
                <a:latin typeface="Arial" panose="020B0604020202020204" pitchFamily="34" charset="0"/>
              </a:rPr>
              <a:t>Forum Sayfalarının Dağınıklığı:</a:t>
            </a:r>
            <a:r>
              <a:rPr kumimoji="0" lang="tr-TR" altLang="tr-TR" sz="1800" b="0" i="0" u="none" strike="noStrike" cap="none" normalizeH="0" baseline="0" dirty="0">
                <a:ln>
                  <a:noFill/>
                </a:ln>
                <a:solidFill>
                  <a:srgbClr val="FF0000"/>
                </a:solidFill>
                <a:effectLst/>
                <a:latin typeface="Arial" panose="020B0604020202020204" pitchFamily="34" charset="0"/>
              </a:rPr>
              <a:t> </a:t>
            </a:r>
            <a:r>
              <a:rPr kumimoji="0" lang="tr-TR" altLang="tr-TR" sz="1800" b="0" i="0" u="none" strike="noStrike" cap="none" normalizeH="0" baseline="0" dirty="0">
                <a:ln>
                  <a:noFill/>
                </a:ln>
                <a:solidFill>
                  <a:schemeClr val="tx1"/>
                </a:solidFill>
                <a:effectLst/>
                <a:latin typeface="Arial" panose="020B0604020202020204" pitchFamily="34" charset="0"/>
              </a:rPr>
              <a:t>Geleneksel forum sitelerinde veya genel soru-cevap platformlarında bilgi çok dağınık ve karmaşık bir yapıda sunulmaktadır. Geliştiriciler spesifik bir kod hatasını veya mimari problemi ararken, konuyla ilgisiz yüzlerce mesaj veya güncelliğini yitirmiş eski çözümler arasında kaybolmakta; bu da projeleri yetiştirme sürecinde ciddi bir zaman kaybına neden olmaktadır.</a:t>
            </a:r>
          </a:p>
          <a:p>
            <a:pPr marL="0" marR="0" lvl="0" indent="0" algn="l" defTabSz="914400" rtl="0" eaLnBrk="0" fontAlgn="base" latinLnBrk="0" hangingPunct="0">
              <a:lnSpc>
                <a:spcPct val="100000"/>
              </a:lnSpc>
              <a:spcBef>
                <a:spcPct val="0"/>
              </a:spcBef>
              <a:spcAft>
                <a:spcPct val="0"/>
              </a:spcAft>
              <a:buClrTx/>
              <a:buSz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800" b="1" i="0" u="none" strike="noStrike" cap="none" normalizeH="0" baseline="0" dirty="0">
                <a:ln>
                  <a:noFill/>
                </a:ln>
                <a:solidFill>
                  <a:srgbClr val="FF0000"/>
                </a:solidFill>
                <a:effectLst/>
                <a:latin typeface="Arial" panose="020B0604020202020204" pitchFamily="34" charset="0"/>
              </a:rPr>
              <a:t>Sadece Yazılımcılar İçin Odaklı Bir Platformun Bulunmaması:</a:t>
            </a:r>
            <a:r>
              <a:rPr kumimoji="0" lang="tr-TR" altLang="tr-TR" sz="1800" b="0" i="0" u="none" strike="noStrike" cap="none" normalizeH="0" baseline="0" dirty="0">
                <a:ln>
                  <a:noFill/>
                </a:ln>
                <a:solidFill>
                  <a:srgbClr val="FF0000"/>
                </a:solidFill>
                <a:effectLst/>
                <a:latin typeface="Arial" panose="020B0604020202020204" pitchFamily="34" charset="0"/>
              </a:rPr>
              <a:t> </a:t>
            </a:r>
            <a:r>
              <a:rPr kumimoji="0" lang="tr-TR" altLang="tr-TR" sz="1800" b="0" i="0" u="none" strike="noStrike" cap="none" normalizeH="0" baseline="0" dirty="0">
                <a:ln>
                  <a:noFill/>
                </a:ln>
                <a:solidFill>
                  <a:schemeClr val="tx1"/>
                </a:solidFill>
                <a:effectLst/>
                <a:latin typeface="Arial" panose="020B0604020202020204" pitchFamily="34" charset="0"/>
              </a:rPr>
              <a:t>Mevcut yerel platformların çoğu genel kitleye veya donanım/teknoloji gibi çok geniş alanlara hitap etmektedir. Yazılımcıların karmaşık algoritmaları tartışabileceği, kod parçacıklarını rahatça paylaşabileceği ve sadece bu mesleki ekosisteme hizmet eden, sözlük ve forum kültürünü harmanlamış özel bir yapı eksiktir. Bu durum, mesleki dayanışmayı ve ortak bir kültür oluşumunu engellemektedir.</a:t>
            </a:r>
          </a:p>
          <a:p>
            <a:pPr marL="0" marR="0" lvl="0" indent="0" algn="l" defTabSz="914400" rtl="0" eaLnBrk="0" fontAlgn="base" latinLnBrk="0" hangingPunct="0">
              <a:lnSpc>
                <a:spcPct val="100000"/>
              </a:lnSpc>
              <a:spcBef>
                <a:spcPct val="0"/>
              </a:spcBef>
              <a:spcAft>
                <a:spcPct val="0"/>
              </a:spcAft>
              <a:buClrTx/>
              <a:buSz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800" b="1" i="0" u="none" strike="noStrike" cap="none" normalizeH="0" baseline="0" dirty="0">
                <a:ln>
                  <a:noFill/>
                </a:ln>
                <a:solidFill>
                  <a:srgbClr val="FF0000"/>
                </a:solidFill>
                <a:effectLst/>
                <a:latin typeface="Arial" panose="020B0604020202020204" pitchFamily="34" charset="0"/>
              </a:rPr>
              <a:t>Tecrübeli Kişilerin Bilgisine Ulaşmanın Zor Olması:</a:t>
            </a:r>
            <a:r>
              <a:rPr kumimoji="0" lang="tr-TR" altLang="tr-TR" sz="1800" b="0" i="0" u="none" strike="noStrike" cap="none" normalizeH="0" baseline="0" dirty="0">
                <a:ln>
                  <a:noFill/>
                </a:ln>
                <a:solidFill>
                  <a:srgbClr val="FF0000"/>
                </a:solidFill>
                <a:effectLst/>
                <a:latin typeface="Arial" panose="020B0604020202020204" pitchFamily="34" charset="0"/>
              </a:rPr>
              <a:t> </a:t>
            </a:r>
            <a:r>
              <a:rPr kumimoji="0" lang="tr-TR" altLang="tr-TR" sz="1800" b="0" i="0" u="none" strike="noStrike" cap="none" normalizeH="0" baseline="0" dirty="0">
                <a:ln>
                  <a:noFill/>
                </a:ln>
                <a:solidFill>
                  <a:schemeClr val="tx1"/>
                </a:solidFill>
                <a:effectLst/>
                <a:latin typeface="Arial" panose="020B0604020202020204" pitchFamily="34" charset="0"/>
              </a:rPr>
              <a:t>Öğrencilerin, sektöre yeni giren geliştiricilerin veya belirli bir teknolojide takılan kişilerin, o alanın uzmanı olan kıdemli (</a:t>
            </a:r>
            <a:r>
              <a:rPr kumimoji="0" lang="tr-TR" altLang="tr-TR" sz="1800" b="0" i="0" u="none" strike="noStrike" cap="none" normalizeH="0" baseline="0" dirty="0" err="1">
                <a:ln>
                  <a:noFill/>
                </a:ln>
                <a:solidFill>
                  <a:schemeClr val="tx1"/>
                </a:solidFill>
                <a:effectLst/>
                <a:latin typeface="Arial" panose="020B0604020202020204" pitchFamily="34" charset="0"/>
              </a:rPr>
              <a:t>senior</a:t>
            </a:r>
            <a:r>
              <a:rPr kumimoji="0" lang="tr-TR" altLang="tr-TR" sz="1800" b="0" i="0" u="none" strike="noStrike" cap="none" normalizeH="0" baseline="0" dirty="0">
                <a:ln>
                  <a:noFill/>
                </a:ln>
                <a:solidFill>
                  <a:schemeClr val="tx1"/>
                </a:solidFill>
                <a:effectLst/>
                <a:latin typeface="Arial" panose="020B0604020202020204" pitchFamily="34" charset="0"/>
              </a:rPr>
              <a:t>) yazılımcılara doğrudan ulaşıp fikir alması oldukça zordur. Diğer platformlarda tecrübeli yazılımcıların ürettiği kaliteli ve optimize çözümler sıradan cevaplar arasında eriyip gitmekte, bu değerli teknik bilgi birikimi kalıcı ve güvenilir bir arşive dönüştürülememektedir.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i="1" dirty="0"/>
              <a:t>Önerilen Çözüm</a:t>
            </a:r>
            <a:endParaRPr b="1" i="1" dirty="0"/>
          </a:p>
        </p:txBody>
      </p:sp>
      <p:sp>
        <p:nvSpPr>
          <p:cNvPr id="3" name="Content Placeholder 2"/>
          <p:cNvSpPr>
            <a:spLocks noGrp="1"/>
          </p:cNvSpPr>
          <p:nvPr>
            <p:ph idx="1"/>
          </p:nvPr>
        </p:nvSpPr>
        <p:spPr/>
        <p:txBody>
          <a:bodyPr/>
          <a:lstStyle/>
          <a:p>
            <a:pPr marL="0" indent="0">
              <a:buNone/>
            </a:pPr>
            <a:r>
              <a:rPr lang="tr-TR" dirty="0"/>
              <a:t>Problemi çözmek için, kullanıcıların yeni konu başlıkları oluşturmasına ve mevcut başlıkların altına düz metin formatında </a:t>
            </a:r>
            <a:r>
              <a:rPr lang="tr-TR" dirty="0" err="1"/>
              <a:t>entry</a:t>
            </a:r>
            <a:r>
              <a:rPr lang="tr-TR" dirty="0"/>
              <a:t> (cevap) girmesine olanak tanıyan web tabanlı bir sistem önerilmektedir.</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474223"/>
            <a:ext cx="7773338" cy="592576"/>
          </a:xfrm>
        </p:spPr>
        <p:txBody>
          <a:bodyPr/>
          <a:lstStyle/>
          <a:p>
            <a:r>
              <a:rPr b="1" i="1" dirty="0" err="1"/>
              <a:t>Hedef</a:t>
            </a:r>
            <a:r>
              <a:rPr b="1" i="1" dirty="0"/>
              <a:t> </a:t>
            </a:r>
            <a:r>
              <a:rPr b="1" i="1" dirty="0" err="1"/>
              <a:t>Kullanıcılar</a:t>
            </a:r>
            <a:endParaRPr b="1" i="1" dirty="0"/>
          </a:p>
        </p:txBody>
      </p:sp>
      <p:sp>
        <p:nvSpPr>
          <p:cNvPr id="3" name="Content Placeholder 2"/>
          <p:cNvSpPr>
            <a:spLocks noGrp="1"/>
          </p:cNvSpPr>
          <p:nvPr>
            <p:ph idx="1"/>
          </p:nvPr>
        </p:nvSpPr>
        <p:spPr>
          <a:xfrm>
            <a:off x="685332" y="1287324"/>
            <a:ext cx="4468996" cy="4324204"/>
          </a:xfrm>
        </p:spPr>
        <p:txBody>
          <a:bodyPr>
            <a:normAutofit fontScale="77500" lnSpcReduction="20000"/>
          </a:bodyPr>
          <a:lstStyle/>
          <a:p>
            <a:r>
              <a:rPr lang="tr-TR" dirty="0">
                <a:solidFill>
                  <a:srgbClr val="FF0000"/>
                </a:solidFill>
              </a:rPr>
              <a:t>Ziyaretçiler:</a:t>
            </a:r>
            <a:r>
              <a:rPr lang="tr-TR" dirty="0"/>
              <a:t> </a:t>
            </a:r>
            <a:r>
              <a:rPr lang="tr-TR" cap="none" dirty="0"/>
              <a:t>Sisteme henüz kayıt olmamış, arama motorunu kullanarak açılmış başlıkları ve altındaki </a:t>
            </a:r>
            <a:r>
              <a:rPr lang="tr-TR" cap="none" dirty="0" err="1"/>
              <a:t>entry'leri</a:t>
            </a:r>
            <a:r>
              <a:rPr lang="tr-TR" cap="none" dirty="0"/>
              <a:t> görüntüleyebilen anonim kullanıcılardır. </a:t>
            </a:r>
          </a:p>
          <a:p>
            <a:endParaRPr lang="tr-TR" dirty="0"/>
          </a:p>
          <a:p>
            <a:r>
              <a:rPr lang="tr-TR" dirty="0"/>
              <a:t> </a:t>
            </a:r>
            <a:r>
              <a:rPr lang="tr-TR" dirty="0">
                <a:solidFill>
                  <a:srgbClr val="FF0000"/>
                </a:solidFill>
              </a:rPr>
              <a:t>Standart Kullanıcılar: </a:t>
            </a:r>
            <a:r>
              <a:rPr lang="tr-TR" cap="none" dirty="0"/>
              <a:t>Sisteme kayıtlı olan ve giriş yaparak aktif oturum açmış kullanıcılardır. Platformda yeni başlık açma ve cevap yazma gibi temel içerik üretimi işlevlerini gerçekleştirirler. </a:t>
            </a:r>
          </a:p>
          <a:p>
            <a:endParaRPr lang="tr-TR" dirty="0"/>
          </a:p>
          <a:p>
            <a:r>
              <a:rPr lang="tr-TR" dirty="0">
                <a:solidFill>
                  <a:srgbClr val="FF0000"/>
                </a:solidFill>
              </a:rPr>
              <a:t>Adminler (Yöneticiler): </a:t>
            </a:r>
            <a:r>
              <a:rPr lang="tr-TR" cap="none" dirty="0"/>
              <a:t>Standart kullanıcıların yetkilerine ek olarak platformda </a:t>
            </a:r>
            <a:r>
              <a:rPr lang="tr-TR" cap="none" dirty="0" err="1"/>
              <a:t>moderasyon</a:t>
            </a:r>
            <a:r>
              <a:rPr lang="tr-TR" cap="none" dirty="0"/>
              <a:t> sağlayan kullanıcılardır. Kural ihlali yapan başlıkları veya tekil </a:t>
            </a:r>
            <a:r>
              <a:rPr lang="tr-TR" cap="none" dirty="0" err="1"/>
              <a:t>entry'leri</a:t>
            </a:r>
            <a:r>
              <a:rPr lang="tr-TR" cap="none" dirty="0"/>
              <a:t> sistemden silme yetkisine sahiplerdir.</a:t>
            </a:r>
            <a:endParaRPr dirty="0"/>
          </a:p>
        </p:txBody>
      </p:sp>
      <p:pic>
        <p:nvPicPr>
          <p:cNvPr id="12" name="Resim 11">
            <a:extLst>
              <a:ext uri="{FF2B5EF4-FFF2-40B4-BE49-F238E27FC236}">
                <a16:creationId xmlns:a16="http://schemas.microsoft.com/office/drawing/2014/main" id="{81A9D879-B7B6-4662-B492-45DAD942EAC0}"/>
              </a:ext>
            </a:extLst>
          </p:cNvPr>
          <p:cNvPicPr>
            <a:picLocks noChangeAspect="1"/>
          </p:cNvPicPr>
          <p:nvPr/>
        </p:nvPicPr>
        <p:blipFill>
          <a:blip r:embed="rId2"/>
          <a:srcRect l="1584" t="23395" r="-1584" b="20369"/>
          <a:stretch>
            <a:fillRect/>
          </a:stretch>
        </p:blipFill>
        <p:spPr>
          <a:xfrm>
            <a:off x="4719027" y="1338938"/>
            <a:ext cx="4532743" cy="35026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618518"/>
            <a:ext cx="7773338" cy="550951"/>
          </a:xfrm>
        </p:spPr>
        <p:txBody>
          <a:bodyPr>
            <a:normAutofit fontScale="90000"/>
          </a:bodyPr>
          <a:lstStyle/>
          <a:p>
            <a:r>
              <a:rPr b="1" i="1" dirty="0"/>
              <a:t>Temel </a:t>
            </a:r>
            <a:r>
              <a:rPr b="1" i="1" dirty="0" err="1"/>
              <a:t>İşlevler</a:t>
            </a:r>
            <a:endParaRPr b="1" i="1" dirty="0"/>
          </a:p>
        </p:txBody>
      </p:sp>
      <p:sp>
        <p:nvSpPr>
          <p:cNvPr id="3" name="Content Placeholder 2"/>
          <p:cNvSpPr>
            <a:spLocks noGrp="1"/>
          </p:cNvSpPr>
          <p:nvPr>
            <p:ph idx="1"/>
          </p:nvPr>
        </p:nvSpPr>
        <p:spPr>
          <a:xfrm>
            <a:off x="340634" y="1204301"/>
            <a:ext cx="4015979" cy="4709642"/>
          </a:xfrm>
        </p:spPr>
        <p:txBody>
          <a:bodyPr>
            <a:normAutofit fontScale="70000" lnSpcReduction="20000"/>
          </a:bodyPr>
          <a:lstStyle/>
          <a:p>
            <a:pPr marL="0" indent="0">
              <a:buNone/>
            </a:pPr>
            <a:r>
              <a:rPr lang="tr-TR" dirty="0"/>
              <a:t>• </a:t>
            </a:r>
            <a:r>
              <a:rPr lang="tr-TR" dirty="0">
                <a:solidFill>
                  <a:srgbClr val="FF0000"/>
                </a:solidFill>
              </a:rPr>
              <a:t>Kullanıcı Yönetimi: </a:t>
            </a:r>
            <a:r>
              <a:rPr lang="tr-TR" cap="none" dirty="0"/>
              <a:t>Kullanıcı kaydı , giriş yapma , güvenli çıkış yapma ve şifrelerin doğrulanması işlemleri. </a:t>
            </a:r>
          </a:p>
          <a:p>
            <a:pPr marL="0" indent="0">
              <a:buNone/>
            </a:pPr>
            <a:endParaRPr lang="tr-TR" dirty="0"/>
          </a:p>
          <a:p>
            <a:pPr marL="0" indent="0">
              <a:buNone/>
            </a:pPr>
            <a:r>
              <a:rPr lang="tr-TR" dirty="0"/>
              <a:t>• </a:t>
            </a:r>
            <a:r>
              <a:rPr lang="tr-TR" dirty="0">
                <a:solidFill>
                  <a:srgbClr val="FF0000"/>
                </a:solidFill>
              </a:rPr>
              <a:t>İçerik Üretimi:</a:t>
            </a:r>
            <a:r>
              <a:rPr lang="tr-TR" dirty="0"/>
              <a:t> </a:t>
            </a:r>
            <a:r>
              <a:rPr lang="tr-TR" cap="none" dirty="0"/>
              <a:t>Oturumu açık olan kullanıcıların belirledikleri isimlerde yeni konu başlıkları açabilmesi ve bu başlıklar altına metin formatında cevap (</a:t>
            </a:r>
            <a:r>
              <a:rPr lang="tr-TR" cap="none" dirty="0" err="1"/>
              <a:t>entry</a:t>
            </a:r>
            <a:r>
              <a:rPr lang="tr-TR" cap="none" dirty="0"/>
              <a:t>) yazabilmesi .</a:t>
            </a:r>
          </a:p>
          <a:p>
            <a:pPr marL="0" indent="0">
              <a:buNone/>
            </a:pPr>
            <a:endParaRPr lang="tr-TR" cap="none" dirty="0"/>
          </a:p>
          <a:p>
            <a:pPr marL="0" indent="0">
              <a:buNone/>
            </a:pPr>
            <a:r>
              <a:rPr lang="tr-TR" dirty="0"/>
              <a:t> • </a:t>
            </a:r>
            <a:r>
              <a:rPr lang="tr-TR" dirty="0">
                <a:solidFill>
                  <a:srgbClr val="FF0000"/>
                </a:solidFill>
              </a:rPr>
              <a:t>Arama ve Görüntüleme: </a:t>
            </a:r>
            <a:r>
              <a:rPr lang="tr-TR" cap="none" dirty="0"/>
              <a:t>Kullanıcıların kelime bazlı başlık araması yapabilmesi ve başlıkların içeriklerini okunabilirliği artırmak için sayfalanmış biçimde görüntüleyebilmesi. </a:t>
            </a:r>
          </a:p>
          <a:p>
            <a:pPr marL="0" indent="0">
              <a:buNone/>
            </a:pPr>
            <a:endParaRPr lang="tr-TR" cap="none" dirty="0"/>
          </a:p>
          <a:p>
            <a:pPr marL="0" indent="0">
              <a:buNone/>
            </a:pPr>
            <a:r>
              <a:rPr lang="tr-TR" dirty="0"/>
              <a:t>• </a:t>
            </a:r>
            <a:r>
              <a:rPr lang="tr-TR" dirty="0" err="1">
                <a:solidFill>
                  <a:srgbClr val="FF0000"/>
                </a:solidFill>
              </a:rPr>
              <a:t>Moderasyon</a:t>
            </a:r>
            <a:r>
              <a:rPr lang="tr-TR" dirty="0">
                <a:solidFill>
                  <a:srgbClr val="FF0000"/>
                </a:solidFill>
              </a:rPr>
              <a:t> (İçerik Yönetimi): </a:t>
            </a:r>
            <a:r>
              <a:rPr lang="tr-TR" cap="none" dirty="0"/>
              <a:t>Yetkilendirilmiş adminlerin, şikayet edilen veya kurallara uymayan başlıkları ve </a:t>
            </a:r>
            <a:r>
              <a:rPr lang="tr-TR" cap="none" dirty="0" err="1"/>
              <a:t>entry'leri</a:t>
            </a:r>
            <a:r>
              <a:rPr lang="tr-TR" cap="none" dirty="0"/>
              <a:t> sistemden güvenli bir şekilde silmesi.</a:t>
            </a:r>
            <a:endParaRPr lang="tr-TR" dirty="0"/>
          </a:p>
        </p:txBody>
      </p:sp>
      <p:pic>
        <p:nvPicPr>
          <p:cNvPr id="8" name="Resim 7">
            <a:extLst>
              <a:ext uri="{FF2B5EF4-FFF2-40B4-BE49-F238E27FC236}">
                <a16:creationId xmlns:a16="http://schemas.microsoft.com/office/drawing/2014/main" id="{5ED4CF90-53A8-9652-6786-91882BA9061F}"/>
              </a:ext>
            </a:extLst>
          </p:cNvPr>
          <p:cNvPicPr>
            <a:picLocks noChangeAspect="1"/>
          </p:cNvPicPr>
          <p:nvPr/>
        </p:nvPicPr>
        <p:blipFill>
          <a:blip r:embed="rId2"/>
          <a:stretch>
            <a:fillRect/>
          </a:stretch>
        </p:blipFill>
        <p:spPr>
          <a:xfrm>
            <a:off x="4572000" y="1876402"/>
            <a:ext cx="4538488" cy="30256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i="1" dirty="0"/>
              <a:t>Proje Kapsamı</a:t>
            </a:r>
            <a:endParaRPr b="1" i="1" dirty="0"/>
          </a:p>
        </p:txBody>
      </p:sp>
      <p:sp>
        <p:nvSpPr>
          <p:cNvPr id="3" name="Content Placeholder 2"/>
          <p:cNvSpPr>
            <a:spLocks noGrp="1"/>
          </p:cNvSpPr>
          <p:nvPr>
            <p:ph idx="1"/>
          </p:nvPr>
        </p:nvSpPr>
        <p:spPr/>
        <p:txBody>
          <a:bodyPr>
            <a:normAutofit fontScale="92500" lnSpcReduction="20000"/>
          </a:bodyPr>
          <a:lstStyle/>
          <a:p>
            <a:pPr marL="0" indent="0">
              <a:buNone/>
            </a:pPr>
            <a:r>
              <a:rPr lang="tr-TR" dirty="0"/>
              <a:t>Proje;</a:t>
            </a:r>
          </a:p>
          <a:p>
            <a:r>
              <a:rPr lang="tr-TR" dirty="0"/>
              <a:t> HTML</a:t>
            </a:r>
          </a:p>
          <a:p>
            <a:r>
              <a:rPr lang="tr-TR" dirty="0"/>
              <a:t> CSS</a:t>
            </a:r>
          </a:p>
          <a:p>
            <a:r>
              <a:rPr lang="tr-TR" dirty="0"/>
              <a:t>JavaScript </a:t>
            </a:r>
          </a:p>
          <a:p>
            <a:pPr marL="0" indent="0">
              <a:buNone/>
            </a:pPr>
            <a:r>
              <a:rPr lang="tr-TR" cap="none" dirty="0"/>
              <a:t>Kullanılarak tasarlanacak bir kullanıcı arayüzü (</a:t>
            </a:r>
            <a:r>
              <a:rPr lang="tr-TR" cap="none" dirty="0" err="1"/>
              <a:t>frontend</a:t>
            </a:r>
            <a:r>
              <a:rPr lang="tr-TR" cap="none" dirty="0"/>
              <a:t>) ile iş mantığını, kimlik doğrulamaları ve oturum yönetimini yürütecek java tabanlı bir </a:t>
            </a:r>
            <a:r>
              <a:rPr lang="tr-TR" cap="none" dirty="0" err="1"/>
              <a:t>backend</a:t>
            </a:r>
            <a:r>
              <a:rPr lang="tr-TR" cap="none" dirty="0"/>
              <a:t> servisini kapsamaktadır. Verilerin tutulması için veri tabanı kullanılacaktır. Temel üyelik süreçleri, başlık/</a:t>
            </a:r>
            <a:r>
              <a:rPr lang="tr-TR" cap="none" dirty="0" err="1"/>
              <a:t>entry</a:t>
            </a:r>
            <a:r>
              <a:rPr lang="tr-TR" cap="none" dirty="0"/>
              <a:t> döngüsü, arama algoritması ve admin yönetim modülü projenin ana geliştirme sınırları içindedir.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i="1" dirty="0"/>
              <a:t>ŞİMDİYE KADAR </a:t>
            </a:r>
            <a:r>
              <a:rPr b="1" i="1" dirty="0" err="1"/>
              <a:t>Yapılan</a:t>
            </a:r>
            <a:r>
              <a:rPr b="1" i="1" dirty="0"/>
              <a:t> </a:t>
            </a:r>
            <a:r>
              <a:rPr b="1" i="1" dirty="0" err="1"/>
              <a:t>Çalışmalar</a:t>
            </a:r>
            <a:endParaRPr b="1" i="1" dirty="0"/>
          </a:p>
        </p:txBody>
      </p:sp>
      <p:sp>
        <p:nvSpPr>
          <p:cNvPr id="3" name="Content Placeholder 2"/>
          <p:cNvSpPr>
            <a:spLocks noGrp="1"/>
          </p:cNvSpPr>
          <p:nvPr>
            <p:ph idx="1"/>
          </p:nvPr>
        </p:nvSpPr>
        <p:spPr/>
        <p:txBody>
          <a:bodyPr/>
          <a:lstStyle/>
          <a:p>
            <a:r>
              <a:rPr dirty="0"/>
              <a:t>Gere</a:t>
            </a:r>
            <a:r>
              <a:rPr lang="tr-TR" dirty="0"/>
              <a:t>KSİNİMLER</a:t>
            </a:r>
          </a:p>
          <a:p>
            <a:r>
              <a:rPr dirty="0"/>
              <a:t>Use Case </a:t>
            </a:r>
            <a:r>
              <a:rPr lang="tr-TR" dirty="0"/>
              <a:t>DİYAGRAMLARI</a:t>
            </a:r>
            <a:endParaRPr dirty="0"/>
          </a:p>
          <a:p>
            <a:r>
              <a:rPr dirty="0"/>
              <a:t>Class </a:t>
            </a:r>
            <a:r>
              <a:rPr lang="tr-TR" dirty="0"/>
              <a:t>DİYAGRAMI</a:t>
            </a:r>
            <a:endParaRPr dirty="0"/>
          </a:p>
          <a:p>
            <a:r>
              <a:rPr dirty="0"/>
              <a:t>State </a:t>
            </a:r>
            <a:r>
              <a:rPr lang="tr-TR" dirty="0"/>
              <a:t>diyagramı</a:t>
            </a:r>
          </a:p>
          <a:p>
            <a:r>
              <a:rPr lang="tr-TR" dirty="0"/>
              <a:t>ACTİVİTY DİYAGRAMI</a:t>
            </a:r>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F047FCB-9C09-B556-54DC-57F119DE8A59}"/>
              </a:ext>
            </a:extLst>
          </p:cNvPr>
          <p:cNvSpPr>
            <a:spLocks noGrp="1"/>
          </p:cNvSpPr>
          <p:nvPr>
            <p:ph type="title"/>
          </p:nvPr>
        </p:nvSpPr>
        <p:spPr/>
        <p:txBody>
          <a:bodyPr/>
          <a:lstStyle/>
          <a:p>
            <a:r>
              <a:rPr lang="tr-TR" dirty="0"/>
              <a:t>Gereksinimler</a:t>
            </a:r>
          </a:p>
        </p:txBody>
      </p:sp>
      <p:sp>
        <p:nvSpPr>
          <p:cNvPr id="3" name="İçerik Yer Tutucusu 2">
            <a:extLst>
              <a:ext uri="{FF2B5EF4-FFF2-40B4-BE49-F238E27FC236}">
                <a16:creationId xmlns:a16="http://schemas.microsoft.com/office/drawing/2014/main" id="{367B5115-59B3-5088-1F97-29CE0900B2B2}"/>
              </a:ext>
            </a:extLst>
          </p:cNvPr>
          <p:cNvSpPr>
            <a:spLocks noGrp="1"/>
          </p:cNvSpPr>
          <p:nvPr>
            <p:ph idx="1"/>
          </p:nvPr>
        </p:nvSpPr>
        <p:spPr>
          <a:xfrm>
            <a:off x="263951" y="1772240"/>
            <a:ext cx="8663233" cy="4901938"/>
          </a:xfrm>
        </p:spPr>
        <p:txBody>
          <a:bodyPr>
            <a:normAutofit fontScale="40000" lnSpcReduction="20000"/>
          </a:bodyPr>
          <a:lstStyle/>
          <a:p>
            <a:pPr marL="0" indent="0">
              <a:buNone/>
            </a:pPr>
            <a:r>
              <a:rPr lang="tr-TR" sz="3000" dirty="0"/>
              <a:t>🔹</a:t>
            </a:r>
            <a:r>
              <a:rPr lang="tr-TR" sz="3000" b="1" i="1" u="sng" dirty="0"/>
              <a:t> Fonksiyonel Gereksinimler</a:t>
            </a:r>
          </a:p>
          <a:p>
            <a:r>
              <a:rPr lang="tr-TR" sz="3000" dirty="0"/>
              <a:t>Kullanıcılar sisteme kayıt olabilmeli ve giriş yapabilmeli </a:t>
            </a:r>
          </a:p>
          <a:p>
            <a:r>
              <a:rPr lang="tr-TR" sz="3000" dirty="0"/>
              <a:t>Kullanıcılar başlık açabilmeli </a:t>
            </a:r>
          </a:p>
          <a:p>
            <a:r>
              <a:rPr lang="tr-TR" sz="3000" dirty="0"/>
              <a:t>Kullanıcılar başlık altına </a:t>
            </a:r>
            <a:r>
              <a:rPr lang="tr-TR" sz="3000" dirty="0" err="1"/>
              <a:t>entry</a:t>
            </a:r>
            <a:r>
              <a:rPr lang="tr-TR" sz="3000" dirty="0"/>
              <a:t> (cevap) yazabilmeli </a:t>
            </a:r>
          </a:p>
          <a:p>
            <a:r>
              <a:rPr lang="tr-TR" sz="3000" dirty="0"/>
              <a:t>Kullanıcılar başlık arayabilmeli </a:t>
            </a:r>
          </a:p>
          <a:p>
            <a:r>
              <a:rPr lang="tr-TR" sz="3000" dirty="0"/>
              <a:t>Sistem, içerikleri </a:t>
            </a:r>
            <a:r>
              <a:rPr lang="tr-TR" sz="3000" dirty="0" err="1"/>
              <a:t>sayfalandırarak</a:t>
            </a:r>
            <a:r>
              <a:rPr lang="tr-TR" sz="3000" dirty="0"/>
              <a:t> göstermeli </a:t>
            </a:r>
          </a:p>
          <a:p>
            <a:r>
              <a:rPr lang="tr-TR" sz="3000" dirty="0"/>
              <a:t>Adminler başlık ve </a:t>
            </a:r>
            <a:r>
              <a:rPr lang="tr-TR" sz="3000" dirty="0" err="1"/>
              <a:t>entry</a:t>
            </a:r>
            <a:r>
              <a:rPr lang="tr-TR" sz="3000" dirty="0"/>
              <a:t> silebilmeli </a:t>
            </a:r>
          </a:p>
          <a:p>
            <a:pPr marL="0" indent="0">
              <a:buNone/>
            </a:pPr>
            <a:br>
              <a:rPr lang="tr-TR" sz="3000" dirty="0"/>
            </a:br>
            <a:endParaRPr lang="tr-TR" sz="3000" dirty="0"/>
          </a:p>
          <a:p>
            <a:pPr marL="0" indent="0">
              <a:buNone/>
            </a:pPr>
            <a:r>
              <a:rPr lang="tr-TR" sz="3000" dirty="0"/>
              <a:t>🔹 </a:t>
            </a:r>
            <a:r>
              <a:rPr lang="tr-TR" sz="3000" b="1" i="1" u="sng" dirty="0"/>
              <a:t>Fonksiyonel Olmayan Gereksinimler</a:t>
            </a:r>
          </a:p>
          <a:p>
            <a:r>
              <a:rPr lang="tr-TR" sz="3000" dirty="0"/>
              <a:t>Şifreler güvenli şekilde (</a:t>
            </a:r>
            <a:r>
              <a:rPr lang="tr-TR" sz="3000" dirty="0" err="1"/>
              <a:t>hashlenerek</a:t>
            </a:r>
            <a:r>
              <a:rPr lang="tr-TR" sz="3000" dirty="0"/>
              <a:t>) saklanmalı </a:t>
            </a:r>
          </a:p>
          <a:p>
            <a:r>
              <a:rPr lang="tr-TR" sz="3000" dirty="0"/>
              <a:t>Sistem hızlı ve kullanıcı dostu olmalı </a:t>
            </a:r>
          </a:p>
          <a:p>
            <a:r>
              <a:rPr lang="tr-TR" sz="3000" dirty="0" err="1"/>
              <a:t>Veritabanı</a:t>
            </a:r>
            <a:r>
              <a:rPr lang="tr-TR" sz="3000" dirty="0"/>
              <a:t> güvenli ve tutarlı çalışmalı </a:t>
            </a:r>
          </a:p>
          <a:p>
            <a:r>
              <a:rPr lang="tr-TR" sz="3000" dirty="0"/>
              <a:t>Arama işlemleri performanslı olmalı </a:t>
            </a:r>
          </a:p>
          <a:p>
            <a:r>
              <a:rPr lang="tr-TR" sz="3000" dirty="0"/>
              <a:t>Sistem ölçeklenebilir olmalı</a:t>
            </a:r>
          </a:p>
          <a:p>
            <a:pPr marL="0" indent="0">
              <a:buNone/>
            </a:pPr>
            <a:endParaRPr lang="tr-TR" dirty="0"/>
          </a:p>
        </p:txBody>
      </p:sp>
    </p:spTree>
    <p:extLst>
      <p:ext uri="{BB962C8B-B14F-4D97-AF65-F5344CB8AC3E}">
        <p14:creationId xmlns:p14="http://schemas.microsoft.com/office/powerpoint/2010/main" val="2972323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A73161D-0CD3-15D8-791D-BDC64643A16C}"/>
              </a:ext>
            </a:extLst>
          </p:cNvPr>
          <p:cNvSpPr>
            <a:spLocks noGrp="1"/>
          </p:cNvSpPr>
          <p:nvPr>
            <p:ph type="title"/>
          </p:nvPr>
        </p:nvSpPr>
        <p:spPr>
          <a:xfrm>
            <a:off x="685332" y="263952"/>
            <a:ext cx="7773338" cy="1282044"/>
          </a:xfrm>
        </p:spPr>
        <p:txBody>
          <a:bodyPr/>
          <a:lstStyle/>
          <a:p>
            <a:r>
              <a:rPr lang="tr-TR" b="1" i="1" dirty="0" err="1"/>
              <a:t>Use</a:t>
            </a:r>
            <a:r>
              <a:rPr lang="tr-TR" b="1" i="1" dirty="0"/>
              <a:t> Case Diyagramı</a:t>
            </a:r>
          </a:p>
        </p:txBody>
      </p:sp>
      <p:sp>
        <p:nvSpPr>
          <p:cNvPr id="4" name="Rectangle 1">
            <a:extLst>
              <a:ext uri="{FF2B5EF4-FFF2-40B4-BE49-F238E27FC236}">
                <a16:creationId xmlns:a16="http://schemas.microsoft.com/office/drawing/2014/main" id="{76C31409-4538-0695-87E6-C6F36C4D14B3}"/>
              </a:ext>
            </a:extLst>
          </p:cNvPr>
          <p:cNvSpPr>
            <a:spLocks noGrp="1" noChangeArrowheads="1"/>
          </p:cNvSpPr>
          <p:nvPr>
            <p:ph idx="1"/>
          </p:nvPr>
        </p:nvSpPr>
        <p:spPr bwMode="auto">
          <a:xfrm>
            <a:off x="126180" y="1464124"/>
            <a:ext cx="5002868" cy="489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500" b="1" i="0" u="none" strike="noStrike" cap="none" normalizeH="0" baseline="0" dirty="0">
              <a:ln>
                <a:noFill/>
              </a:ln>
              <a:solidFill>
                <a:schemeClr val="tx1"/>
              </a:solidFill>
              <a:effectLst/>
              <a:latin typeface="Arial" panose="020B0604020202020204" pitchFamily="34" charset="0"/>
            </a:endParaRPr>
          </a:p>
          <a:p>
            <a:pPr marL="0" lvl="0" indent="0" defTabSz="914400" eaLnBrk="0" fontAlgn="base" hangingPunct="0">
              <a:spcBef>
                <a:spcPct val="0"/>
              </a:spcBef>
              <a:spcAft>
                <a:spcPct val="0"/>
              </a:spcAft>
              <a:buNone/>
            </a:pPr>
            <a:r>
              <a:rPr kumimoji="0" lang="tr-TR" altLang="tr-TR" sz="1800" b="1" i="0" u="none" strike="noStrike" cap="none" normalizeH="0" baseline="0" dirty="0">
                <a:ln>
                  <a:noFill/>
                </a:ln>
                <a:solidFill>
                  <a:srgbClr val="FF0000"/>
                </a:solidFill>
                <a:effectLst/>
                <a:latin typeface="Arial" panose="020B0604020202020204" pitchFamily="34" charset="0"/>
              </a:rPr>
              <a:t>Aktörler</a:t>
            </a:r>
            <a:r>
              <a:rPr lang="tr-TR" altLang="tr-TR" sz="1800" b="1" dirty="0">
                <a:solidFill>
                  <a:srgbClr val="FF0000"/>
                </a:solidFill>
                <a:latin typeface="Arial" panose="020B0604020202020204" pitchFamily="34" charset="0"/>
              </a:rPr>
              <a:t> </a:t>
            </a:r>
            <a:r>
              <a:rPr lang="tr-TR" altLang="tr-TR" sz="1800" b="1" dirty="0">
                <a:solidFill>
                  <a:srgbClr val="FF0000"/>
                </a:solidFill>
                <a:latin typeface="Arial" panose="020B0604020202020204" pitchFamily="34" charset="0"/>
                <a:sym typeface="Wingdings" panose="05000000000000000000" pitchFamily="2" charset="2"/>
              </a:rPr>
              <a:t></a:t>
            </a:r>
            <a:r>
              <a:rPr kumimoji="0" lang="tr-TR" altLang="tr-TR" sz="1800" b="0" i="0" u="none" strike="noStrike" cap="none" normalizeH="0" baseline="0" dirty="0">
                <a:ln>
                  <a:noFill/>
                </a:ln>
                <a:solidFill>
                  <a:srgbClr val="FF0000"/>
                </a:solidFill>
                <a:effectLst/>
                <a:latin typeface="Arial" panose="020B0604020202020204" pitchFamily="34" charset="0"/>
              </a:rPr>
              <a:t> </a:t>
            </a:r>
            <a:r>
              <a:rPr lang="tr-TR" altLang="tr-TR" sz="1800" cap="none" dirty="0">
                <a:latin typeface="Arial" panose="020B0604020202020204" pitchFamily="34" charset="0"/>
              </a:rPr>
              <a:t>Soru Soran Geliştirici, Konuya Hakim Uzman</a:t>
            </a:r>
            <a:endParaRPr lang="tr-TR" altLang="tr-TR" sz="1800" dirty="0">
              <a:latin typeface="Arial" panose="020B0604020202020204" pitchFamily="34" charset="0"/>
            </a:endParaRPr>
          </a:p>
          <a:p>
            <a:pPr marL="0" lvl="0" indent="0" defTabSz="914400" eaLnBrk="0" fontAlgn="base" hangingPunct="0">
              <a:spcBef>
                <a:spcPct val="0"/>
              </a:spcBef>
              <a:spcAft>
                <a:spcPct val="0"/>
              </a:spcAft>
              <a:buNone/>
            </a:pPr>
            <a:endParaRPr kumimoji="0" lang="tr-TR" altLang="tr-TR"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1" i="0" u="none" strike="noStrike" cap="none" normalizeH="0" baseline="0" dirty="0">
                <a:ln>
                  <a:noFill/>
                </a:ln>
                <a:solidFill>
                  <a:srgbClr val="FF0000"/>
                </a:solidFill>
                <a:effectLst/>
                <a:latin typeface="Arial" panose="020B0604020202020204" pitchFamily="34" charset="0"/>
              </a:rPr>
              <a:t>İşlevler</a:t>
            </a:r>
            <a:r>
              <a:rPr lang="tr-TR" altLang="tr-TR" sz="1800" b="1" dirty="0">
                <a:solidFill>
                  <a:srgbClr val="FF0000"/>
                </a:solidFill>
                <a:latin typeface="Arial" panose="020B0604020202020204" pitchFamily="34" charset="0"/>
              </a:rPr>
              <a:t>:</a:t>
            </a:r>
            <a:endParaRPr kumimoji="0" lang="tr-TR" altLang="tr-TR"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Soru Sor ve Başlık Aç: </a:t>
            </a:r>
            <a:r>
              <a:rPr kumimoji="0" lang="tr-TR" altLang="tr-TR" sz="1400" b="0" i="0" u="none" strike="noStrike" cap="none" normalizeH="0" baseline="0" dirty="0">
                <a:ln>
                  <a:noFill/>
                </a:ln>
                <a:solidFill>
                  <a:schemeClr val="tx1"/>
                </a:solidFill>
                <a:effectLst/>
                <a:latin typeface="Arial" panose="020B0604020202020204" pitchFamily="34" charset="0"/>
              </a:rPr>
              <a:t>Kullanıcıların spesifik teknik sorunları, kod hatalarını veya mimari ikilemleri toplulukla paylaşması.</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Kod Paylaş:</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tr-TR" altLang="tr-TR" sz="1400" b="0" i="0" u="none" strike="noStrike" cap="none" normalizeH="0" baseline="0" dirty="0">
                <a:ln>
                  <a:noFill/>
                </a:ln>
                <a:solidFill>
                  <a:schemeClr val="tx1"/>
                </a:solidFill>
                <a:effectLst/>
                <a:latin typeface="Arial" panose="020B0604020202020204" pitchFamily="34" charset="0"/>
              </a:rPr>
              <a:t>Kullanıcıların sorularını detaylandırırken kod parçacıklarını sisteme eklemesi.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Çözüm Üret:</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tr-TR" altLang="tr-TR" sz="1400" b="0" i="0" u="none" strike="noStrike" cap="none" normalizeH="0" baseline="0" dirty="0">
                <a:ln>
                  <a:noFill/>
                </a:ln>
                <a:solidFill>
                  <a:schemeClr val="tx1"/>
                </a:solidFill>
                <a:effectLst/>
                <a:latin typeface="Arial" panose="020B0604020202020204" pitchFamily="34" charset="0"/>
              </a:rPr>
              <a:t>Uzmanların açılan başlıklar altında çözüm odaklı yanıtlar vermesi.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Cevapları Oyla:</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tr-TR" altLang="tr-TR" sz="1400" b="0" i="0" u="none" strike="noStrike" cap="none" normalizeH="0" baseline="0" dirty="0">
                <a:ln>
                  <a:noFill/>
                </a:ln>
                <a:solidFill>
                  <a:schemeClr val="tx1"/>
                </a:solidFill>
                <a:effectLst/>
                <a:latin typeface="Arial" panose="020B0604020202020204" pitchFamily="34" charset="0"/>
              </a:rPr>
              <a:t>Topluluğun verilen cevapları oylayarak en doğru çözümü belirlemesi.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Arşivde Arama Yap:</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tr-TR" altLang="tr-TR" sz="1400" b="0" i="0" u="none" strike="noStrike" cap="none" normalizeH="0" baseline="0" dirty="0">
                <a:ln>
                  <a:noFill/>
                </a:ln>
                <a:solidFill>
                  <a:schemeClr val="tx1"/>
                </a:solidFill>
                <a:effectLst/>
                <a:latin typeface="Arial" panose="020B0604020202020204" pitchFamily="34" charset="0"/>
              </a:rPr>
              <a:t>Benzer sorunları yaşayan geliştiricilerin kalıcı bilgi kütüphanesinde arama yapması.</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p:txBody>
      </p:sp>
      <p:pic>
        <p:nvPicPr>
          <p:cNvPr id="3" name="İçerik Yer Tutucusu 4">
            <a:extLst>
              <a:ext uri="{FF2B5EF4-FFF2-40B4-BE49-F238E27FC236}">
                <a16:creationId xmlns:a16="http://schemas.microsoft.com/office/drawing/2014/main" id="{C09C8DEA-DD1C-2F88-1618-271B8CA7CA8D}"/>
              </a:ext>
            </a:extLst>
          </p:cNvPr>
          <p:cNvPicPr>
            <a:picLocks noChangeAspect="1"/>
          </p:cNvPicPr>
          <p:nvPr/>
        </p:nvPicPr>
        <p:blipFill>
          <a:blip r:embed="rId2"/>
          <a:stretch>
            <a:fillRect/>
          </a:stretch>
        </p:blipFill>
        <p:spPr>
          <a:xfrm>
            <a:off x="5077742" y="1545996"/>
            <a:ext cx="3845541" cy="4525963"/>
          </a:xfrm>
          <a:prstGeom prst="rect">
            <a:avLst/>
          </a:prstGeom>
        </p:spPr>
      </p:pic>
    </p:spTree>
    <p:extLst>
      <p:ext uri="{BB962C8B-B14F-4D97-AF65-F5344CB8AC3E}">
        <p14:creationId xmlns:p14="http://schemas.microsoft.com/office/powerpoint/2010/main" val="4237840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9395CE-B521-EEC9-2B67-B55066340AF4}"/>
              </a:ext>
            </a:extLst>
          </p:cNvPr>
          <p:cNvSpPr>
            <a:spLocks noGrp="1"/>
          </p:cNvSpPr>
          <p:nvPr>
            <p:ph type="title"/>
          </p:nvPr>
        </p:nvSpPr>
        <p:spPr>
          <a:xfrm>
            <a:off x="685331" y="471339"/>
            <a:ext cx="7773338" cy="1225485"/>
          </a:xfrm>
        </p:spPr>
        <p:txBody>
          <a:bodyPr>
            <a:normAutofit/>
          </a:bodyPr>
          <a:lstStyle/>
          <a:p>
            <a:br>
              <a:rPr lang="tr-TR" b="1" i="1" dirty="0"/>
            </a:br>
            <a:r>
              <a:rPr lang="tr-TR" b="1" i="1" dirty="0"/>
              <a:t>Class Diyagramı</a:t>
            </a:r>
          </a:p>
        </p:txBody>
      </p:sp>
      <p:sp>
        <p:nvSpPr>
          <p:cNvPr id="4" name="Rectangle 1">
            <a:extLst>
              <a:ext uri="{FF2B5EF4-FFF2-40B4-BE49-F238E27FC236}">
                <a16:creationId xmlns:a16="http://schemas.microsoft.com/office/drawing/2014/main" id="{F65EE9F8-E897-E1BB-82C9-5DB1CE5C87C9}"/>
              </a:ext>
            </a:extLst>
          </p:cNvPr>
          <p:cNvSpPr>
            <a:spLocks noGrp="1" noChangeArrowheads="1"/>
          </p:cNvSpPr>
          <p:nvPr>
            <p:ph idx="1"/>
          </p:nvPr>
        </p:nvSpPr>
        <p:spPr bwMode="auto">
          <a:xfrm>
            <a:off x="457200" y="1650969"/>
            <a:ext cx="4950372"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1" i="0" u="none" strike="noStrike" cap="none" normalizeH="0" baseline="0" dirty="0">
                <a:ln>
                  <a:noFill/>
                </a:ln>
                <a:solidFill>
                  <a:srgbClr val="FF0000"/>
                </a:solidFill>
                <a:effectLst/>
                <a:latin typeface="Google Sans Text"/>
              </a:rPr>
              <a:t>Sistemi Oluşturan Temel Sınıflar ve Özellikleri:</a:t>
            </a:r>
            <a:endParaRPr kumimoji="0" lang="tr-TR" altLang="tr-TR" sz="18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Kullanıcı Sınıfı:</a:t>
            </a:r>
            <a:r>
              <a:rPr kumimoji="0" lang="tr-TR" altLang="tr-TR" sz="1600" b="0" i="0" u="none" strike="noStrike" cap="none" normalizeH="0" baseline="0" dirty="0">
                <a:ln>
                  <a:noFill/>
                </a:ln>
                <a:solidFill>
                  <a:schemeClr val="tx1"/>
                </a:solidFill>
                <a:effectLst/>
                <a:latin typeface="Google Sans Text"/>
              </a:rPr>
              <a:t> Platformdaki geliştiricileri ve uzmanları temsil eder. Profesyonel ağ oluşturma işlevine temel sağlar.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Başlık/Soru Sınıfı:</a:t>
            </a:r>
            <a:r>
              <a:rPr kumimoji="0" lang="tr-TR" altLang="tr-TR" sz="1600" b="0" i="0" u="none" strike="noStrike" cap="none" normalizeH="0" baseline="0" dirty="0">
                <a:ln>
                  <a:noFill/>
                </a:ln>
                <a:solidFill>
                  <a:schemeClr val="tx1"/>
                </a:solidFill>
                <a:effectLst/>
                <a:latin typeface="Google Sans Text"/>
              </a:rPr>
              <a:t> Sözlük ve forum kültürünü yansıtan, altında soruların detaylıca ifade edildiği veri yapısıdır. İçerisinde metin ve "kod parçacığı" niteliklerini barındırır.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Cevap Sınıfı: </a:t>
            </a:r>
            <a:r>
              <a:rPr kumimoji="0" lang="tr-TR" altLang="tr-TR" sz="1600" b="0" i="0" u="none" strike="noStrike" cap="none" normalizeH="0" baseline="0" dirty="0">
                <a:ln>
                  <a:noFill/>
                </a:ln>
                <a:solidFill>
                  <a:schemeClr val="tx1"/>
                </a:solidFill>
                <a:effectLst/>
                <a:latin typeface="Google Sans Text"/>
              </a:rPr>
              <a:t>Uzmanlar tarafından üretilen çözümleri tutar. Hangi cevabın "en doğru ve optimize çözüm" olduğunu belirlemek için bir "oy sayısı" niteliğine sahiptir.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Bilgi Kütüphanesi Sınıfı:</a:t>
            </a:r>
            <a:r>
              <a:rPr kumimoji="0" lang="tr-TR" altLang="tr-TR" sz="16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600" b="0" i="0" u="none" strike="noStrike" cap="none" normalizeH="0" baseline="0" dirty="0">
                <a:ln>
                  <a:noFill/>
                </a:ln>
                <a:solidFill>
                  <a:schemeClr val="tx1"/>
                </a:solidFill>
                <a:effectLst/>
                <a:latin typeface="Google Sans Text"/>
              </a:rPr>
              <a:t>Sistemdeki çözülmüş sorunların tutulduğu, aranabilir ve kalıcı arşiv yapısıdır.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0" i="0" u="none" strike="noStrike" cap="none" normalizeH="0" baseline="0" dirty="0">
              <a:ln>
                <a:noFill/>
              </a:ln>
              <a:solidFill>
                <a:schemeClr val="tx1"/>
              </a:solidFill>
              <a:effectLst/>
              <a:latin typeface="Arial" panose="020B0604020202020204" pitchFamily="34" charset="0"/>
            </a:endParaRPr>
          </a:p>
        </p:txBody>
      </p:sp>
      <p:pic>
        <p:nvPicPr>
          <p:cNvPr id="3" name="İçerik Yer Tutucusu 4">
            <a:extLst>
              <a:ext uri="{FF2B5EF4-FFF2-40B4-BE49-F238E27FC236}">
                <a16:creationId xmlns:a16="http://schemas.microsoft.com/office/drawing/2014/main" id="{CCF29403-2495-626E-CA10-6DBD357BCDF2}"/>
              </a:ext>
            </a:extLst>
          </p:cNvPr>
          <p:cNvPicPr>
            <a:picLocks noChangeAspect="1"/>
          </p:cNvPicPr>
          <p:nvPr/>
        </p:nvPicPr>
        <p:blipFill>
          <a:blip r:embed="rId2"/>
          <a:stretch>
            <a:fillRect/>
          </a:stretch>
        </p:blipFill>
        <p:spPr>
          <a:xfrm>
            <a:off x="5407572" y="1956355"/>
            <a:ext cx="3641834" cy="3988097"/>
          </a:xfrm>
          <a:prstGeom prst="rect">
            <a:avLst/>
          </a:prstGeom>
        </p:spPr>
      </p:pic>
    </p:spTree>
    <p:extLst>
      <p:ext uri="{BB962C8B-B14F-4D97-AF65-F5344CB8AC3E}">
        <p14:creationId xmlns:p14="http://schemas.microsoft.com/office/powerpoint/2010/main" val="3528957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F4FCF8-5117-E97A-7A73-5AB8399D2A0F}"/>
              </a:ext>
            </a:extLst>
          </p:cNvPr>
          <p:cNvSpPr>
            <a:spLocks noGrp="1"/>
          </p:cNvSpPr>
          <p:nvPr>
            <p:ph type="title"/>
          </p:nvPr>
        </p:nvSpPr>
        <p:spPr>
          <a:xfrm>
            <a:off x="685332" y="461914"/>
            <a:ext cx="7773338" cy="1018094"/>
          </a:xfrm>
        </p:spPr>
        <p:txBody>
          <a:bodyPr/>
          <a:lstStyle/>
          <a:p>
            <a:r>
              <a:rPr lang="tr-TR" b="1" i="1" dirty="0" err="1"/>
              <a:t>State</a:t>
            </a:r>
            <a:r>
              <a:rPr lang="tr-TR" b="1" i="1" dirty="0"/>
              <a:t>(Durum) Diyagramı</a:t>
            </a:r>
          </a:p>
        </p:txBody>
      </p:sp>
      <p:sp>
        <p:nvSpPr>
          <p:cNvPr id="4" name="Rectangle 1">
            <a:extLst>
              <a:ext uri="{FF2B5EF4-FFF2-40B4-BE49-F238E27FC236}">
                <a16:creationId xmlns:a16="http://schemas.microsoft.com/office/drawing/2014/main" id="{B2301F51-09A9-8001-44DC-139C23450FF2}"/>
              </a:ext>
            </a:extLst>
          </p:cNvPr>
          <p:cNvSpPr>
            <a:spLocks noGrp="1" noChangeArrowheads="1"/>
          </p:cNvSpPr>
          <p:nvPr>
            <p:ph idx="1"/>
          </p:nvPr>
        </p:nvSpPr>
        <p:spPr bwMode="auto">
          <a:xfrm>
            <a:off x="457201" y="1501971"/>
            <a:ext cx="4850524"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1"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600" b="1" i="0" u="none" strike="noStrike" cap="none" normalizeH="0" baseline="0" dirty="0">
                <a:ln>
                  <a:noFill/>
                </a:ln>
                <a:solidFill>
                  <a:srgbClr val="FF0000"/>
                </a:solidFill>
                <a:effectLst/>
                <a:latin typeface="Arial" panose="020B0604020202020204" pitchFamily="34" charset="0"/>
              </a:rPr>
              <a:t>Bir "Sorunun/Başlığın" Sistemdeki Yaşam Döngüsü:</a:t>
            </a:r>
            <a:endParaRPr kumimoji="0" lang="tr-TR" altLang="tr-TR" sz="16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Durum 1: Yeni Oluşturuldu </a:t>
            </a:r>
            <a:r>
              <a:rPr kumimoji="0" lang="tr-TR" altLang="tr-TR" sz="1400" b="0" i="0" u="none" strike="noStrike" cap="none" normalizeH="0" baseline="0" dirty="0">
                <a:ln>
                  <a:noFill/>
                </a:ln>
                <a:solidFill>
                  <a:schemeClr val="tx1"/>
                </a:solidFill>
                <a:effectLst/>
                <a:latin typeface="Arial" panose="020B0604020202020204" pitchFamily="34" charset="0"/>
              </a:rPr>
              <a:t>Bir geliştirici tarafından teknik bir sorunun platforma detaylıca girilmesi durumudur.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Durum 2: Çözüm Bekliyor / Tartışılıyor </a:t>
            </a:r>
            <a:r>
              <a:rPr kumimoji="0" lang="tr-TR" altLang="tr-TR" sz="1400" b="0" i="0" u="none" strike="noStrike" cap="none" normalizeH="0" baseline="0" dirty="0">
                <a:ln>
                  <a:noFill/>
                </a:ln>
                <a:solidFill>
                  <a:schemeClr val="tx1"/>
                </a:solidFill>
                <a:effectLst/>
                <a:latin typeface="Arial" panose="020B0604020202020204" pitchFamily="34" charset="0"/>
              </a:rPr>
              <a:t>Konuya hakim uzmanların başlık altında yanıtlar üretmeye başladığı aktif durumdur.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Durum 3: Oylanıyor</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tr-TR" altLang="tr-TR" sz="1400" b="0" i="0" u="none" strike="noStrike" cap="none" normalizeH="0" baseline="0" dirty="0">
                <a:ln>
                  <a:noFill/>
                </a:ln>
                <a:solidFill>
                  <a:schemeClr val="tx1"/>
                </a:solidFill>
                <a:effectLst/>
                <a:latin typeface="Arial" panose="020B0604020202020204" pitchFamily="34" charset="0"/>
              </a:rPr>
              <a:t>Verilen cevapların topluluk tarafından değerlendirildiği ve oylandığı süreçtir.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Durum 4: Çözümlendi</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tr-TR" altLang="tr-TR" sz="1400" b="0" i="0" u="none" strike="noStrike" cap="none" normalizeH="0" baseline="0" dirty="0">
                <a:ln>
                  <a:noFill/>
                </a:ln>
                <a:solidFill>
                  <a:schemeClr val="tx1"/>
                </a:solidFill>
                <a:effectLst/>
                <a:latin typeface="Arial" panose="020B0604020202020204" pitchFamily="34" charset="0"/>
              </a:rPr>
              <a:t>Oylama sonucunda en doğru ve optimize çözümün öne çıkıp belirlendiği durumdur.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Durum 5: Arşivlendi</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r>
              <a:rPr kumimoji="0" lang="tr-TR" altLang="tr-TR" sz="1400" b="0" i="0" u="none" strike="noStrike" cap="none" normalizeH="0" baseline="0" dirty="0">
                <a:ln>
                  <a:noFill/>
                </a:ln>
                <a:solidFill>
                  <a:schemeClr val="tx1"/>
                </a:solidFill>
                <a:effectLst/>
                <a:latin typeface="Arial" panose="020B0604020202020204" pitchFamily="34" charset="0"/>
              </a:rPr>
              <a:t>Çözülen problemin, gelecekteki aramalar için kalıcı bilgi kütüphanesine eklendiği final durumdur.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p:txBody>
      </p:sp>
      <p:pic>
        <p:nvPicPr>
          <p:cNvPr id="3" name="İçerik Yer Tutucusu 4">
            <a:extLst>
              <a:ext uri="{FF2B5EF4-FFF2-40B4-BE49-F238E27FC236}">
                <a16:creationId xmlns:a16="http://schemas.microsoft.com/office/drawing/2014/main" id="{8E26A00C-FF07-55A0-E55E-D306186C62E0}"/>
              </a:ext>
            </a:extLst>
          </p:cNvPr>
          <p:cNvPicPr>
            <a:picLocks noChangeAspect="1"/>
          </p:cNvPicPr>
          <p:nvPr/>
        </p:nvPicPr>
        <p:blipFill>
          <a:blip r:embed="rId2"/>
          <a:stretch>
            <a:fillRect/>
          </a:stretch>
        </p:blipFill>
        <p:spPr>
          <a:xfrm>
            <a:off x="5386551" y="1419539"/>
            <a:ext cx="3710151" cy="4319109"/>
          </a:xfrm>
          <a:prstGeom prst="rect">
            <a:avLst/>
          </a:prstGeom>
        </p:spPr>
      </p:pic>
    </p:spTree>
    <p:extLst>
      <p:ext uri="{BB962C8B-B14F-4D97-AF65-F5344CB8AC3E}">
        <p14:creationId xmlns:p14="http://schemas.microsoft.com/office/powerpoint/2010/main" val="1212128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602936-7E0B-434F-5573-E2DAE474C917}"/>
              </a:ext>
            </a:extLst>
          </p:cNvPr>
          <p:cNvSpPr>
            <a:spLocks noGrp="1"/>
          </p:cNvSpPr>
          <p:nvPr>
            <p:ph type="title"/>
          </p:nvPr>
        </p:nvSpPr>
        <p:spPr>
          <a:xfrm>
            <a:off x="685332" y="78180"/>
            <a:ext cx="7773338" cy="1596177"/>
          </a:xfrm>
        </p:spPr>
        <p:txBody>
          <a:bodyPr/>
          <a:lstStyle/>
          <a:p>
            <a:r>
              <a:rPr lang="tr-TR" b="1" i="1" dirty="0"/>
              <a:t>Activity Diyagramı</a:t>
            </a:r>
          </a:p>
        </p:txBody>
      </p:sp>
      <p:sp>
        <p:nvSpPr>
          <p:cNvPr id="4" name="Rectangle 1">
            <a:extLst>
              <a:ext uri="{FF2B5EF4-FFF2-40B4-BE49-F238E27FC236}">
                <a16:creationId xmlns:a16="http://schemas.microsoft.com/office/drawing/2014/main" id="{504D902A-9FF7-0BCC-4445-A6B4781AE392}"/>
              </a:ext>
            </a:extLst>
          </p:cNvPr>
          <p:cNvSpPr>
            <a:spLocks noGrp="1" noChangeArrowheads="1"/>
          </p:cNvSpPr>
          <p:nvPr>
            <p:ph idx="1"/>
          </p:nvPr>
        </p:nvSpPr>
        <p:spPr bwMode="auto">
          <a:xfrm>
            <a:off x="132079" y="67641"/>
            <a:ext cx="4955629"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5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1" i="0" u="none" strike="noStrike" cap="none" normalizeH="0" baseline="0" dirty="0">
              <a:ln>
                <a:noFill/>
              </a:ln>
              <a:solidFill>
                <a:srgbClr val="FF000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1" i="0" u="none" strike="noStrike" cap="none" normalizeH="0" baseline="0" dirty="0">
              <a:ln>
                <a:noFill/>
              </a:ln>
              <a:solidFill>
                <a:srgbClr val="FF000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1" i="0" u="none" strike="noStrike" cap="none" normalizeH="0" baseline="0" dirty="0">
              <a:ln>
                <a:noFill/>
              </a:ln>
              <a:solidFill>
                <a:srgbClr val="FF000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tr-TR" altLang="tr-TR" sz="1600" b="1" cap="none" dirty="0">
              <a:solidFill>
                <a:srgbClr val="FF0000"/>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600" b="1" i="0" u="none" strike="noStrike" cap="none" normalizeH="0" baseline="0" dirty="0">
              <a:ln>
                <a:noFill/>
              </a:ln>
              <a:solidFill>
                <a:srgbClr val="FF000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lang="tr-TR" altLang="tr-TR" sz="1600" b="1" cap="none" dirty="0">
              <a:solidFill>
                <a:srgbClr val="FF0000"/>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600" b="1" i="0" u="none" strike="noStrike" cap="none" normalizeH="0" baseline="0" dirty="0">
                <a:ln>
                  <a:noFill/>
                </a:ln>
                <a:solidFill>
                  <a:srgbClr val="FF0000"/>
                </a:solidFill>
                <a:effectLst/>
                <a:latin typeface="Google Sans Text"/>
              </a:rPr>
              <a:t>Soru Sorma ve Çözüm Bulma Sürecinin İşlem Akışı:</a:t>
            </a:r>
            <a:endParaRPr kumimoji="0" lang="tr-TR" altLang="tr-TR" sz="16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Adım 1:</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400" b="0" i="0" u="none" strike="noStrike" cap="none" normalizeH="0" baseline="0" dirty="0">
                <a:ln>
                  <a:noFill/>
                </a:ln>
                <a:solidFill>
                  <a:schemeClr val="tx1"/>
                </a:solidFill>
                <a:effectLst/>
                <a:latin typeface="Google Sans Text"/>
              </a:rPr>
              <a:t>Süreç, kullanıcının karmaşık bir teknik problemi, kod hatasını veya mimari ikilemi platformda paylaşmasıyla başlar.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Adım 2:</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400" b="0" i="0" u="none" strike="noStrike" cap="none" normalizeH="0" baseline="0" dirty="0">
                <a:ln>
                  <a:noFill/>
                </a:ln>
                <a:solidFill>
                  <a:schemeClr val="tx1"/>
                </a:solidFill>
                <a:effectLst/>
                <a:latin typeface="Google Sans Text"/>
              </a:rPr>
              <a:t>Kullanıcı sorusunu detaylandırır ve gerekirse kod parçacıklarını sisteme ekler.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Adım 3:</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400" b="0" i="0" u="none" strike="noStrike" cap="none" normalizeH="0" baseline="0" dirty="0">
                <a:ln>
                  <a:noFill/>
                </a:ln>
                <a:solidFill>
                  <a:schemeClr val="tx1"/>
                </a:solidFill>
                <a:effectLst/>
                <a:latin typeface="Google Sans Text"/>
              </a:rPr>
              <a:t>Sistem, soruyu forum/sözlük yapısında yayınlar ve diğer uzmanlar konuyu inceler.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Adım 4:</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400" b="0" i="0" u="none" strike="noStrike" cap="none" normalizeH="0" baseline="0" dirty="0">
                <a:ln>
                  <a:noFill/>
                </a:ln>
                <a:solidFill>
                  <a:schemeClr val="tx1"/>
                </a:solidFill>
                <a:effectLst/>
                <a:latin typeface="Google Sans Text"/>
              </a:rPr>
              <a:t>Uzmanlar çözüm odaklı yanıtlar üretip sisteme girer.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Adım 5:</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400" b="0" i="0" u="none" strike="noStrike" cap="none" normalizeH="0" baseline="0" dirty="0">
                <a:ln>
                  <a:noFill/>
                </a:ln>
                <a:solidFill>
                  <a:schemeClr val="tx1"/>
                </a:solidFill>
                <a:effectLst/>
                <a:latin typeface="Google Sans Text"/>
              </a:rPr>
              <a:t>Kullanıcılar verilen yanıtları oylar.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Adım 6:</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400" b="0" i="0" u="none" strike="noStrike" cap="none" normalizeH="0" baseline="0" dirty="0">
                <a:ln>
                  <a:noFill/>
                </a:ln>
                <a:solidFill>
                  <a:schemeClr val="tx1"/>
                </a:solidFill>
                <a:effectLst/>
                <a:latin typeface="Google Sans Text"/>
              </a:rPr>
              <a:t>Sistem en yüksek oyu alan cevabı filtreler ve optimize çözüm olarak en üste taşır.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4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400" b="1"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Adım 7:</a:t>
            </a:r>
            <a:r>
              <a:rPr kumimoji="0" lang="tr-TR" altLang="tr-TR" sz="1400" b="0" i="0" u="sng" strike="noStrike" cap="none" normalizeH="0" baseline="0" dirty="0">
                <a:ln>
                  <a:noFill/>
                </a:ln>
                <a:solidFill>
                  <a:schemeClr val="tx1"/>
                </a:solidFill>
                <a:effectLst>
                  <a:outerShdw blurRad="38100" dist="38100" dir="2700000" algn="tl">
                    <a:srgbClr val="000000">
                      <a:alpha val="43137"/>
                    </a:srgbClr>
                  </a:outerShdw>
                </a:effectLst>
                <a:latin typeface="Google Sans Text"/>
              </a:rPr>
              <a:t> </a:t>
            </a:r>
            <a:r>
              <a:rPr kumimoji="0" lang="tr-TR" altLang="tr-TR" sz="1400" b="0" i="0" u="none" strike="noStrike" cap="none" normalizeH="0" baseline="0" dirty="0">
                <a:ln>
                  <a:noFill/>
                </a:ln>
                <a:solidFill>
                  <a:schemeClr val="tx1"/>
                </a:solidFill>
                <a:effectLst/>
                <a:latin typeface="Google Sans Text"/>
              </a:rPr>
              <a:t>Süreç, başlığın diğer geliştiricilerin bilgiye erişim hızını artırmak için kütüphaneye kaydedilmesiyle sonlanır.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400" b="0" i="0" u="none" strike="noStrike" cap="none" normalizeH="0" baseline="0" dirty="0">
              <a:ln>
                <a:noFill/>
              </a:ln>
              <a:solidFill>
                <a:schemeClr val="tx1"/>
              </a:solidFill>
              <a:effectLst/>
              <a:latin typeface="Arial" panose="020B0604020202020204" pitchFamily="34" charset="0"/>
            </a:endParaRPr>
          </a:p>
        </p:txBody>
      </p:sp>
      <p:pic>
        <p:nvPicPr>
          <p:cNvPr id="3" name="İçerik Yer Tutucusu 4">
            <a:extLst>
              <a:ext uri="{FF2B5EF4-FFF2-40B4-BE49-F238E27FC236}">
                <a16:creationId xmlns:a16="http://schemas.microsoft.com/office/drawing/2014/main" id="{159AB364-BCC4-E7E4-E87B-17B4D8B984DB}"/>
              </a:ext>
            </a:extLst>
          </p:cNvPr>
          <p:cNvPicPr>
            <a:picLocks noChangeAspect="1"/>
          </p:cNvPicPr>
          <p:nvPr/>
        </p:nvPicPr>
        <p:blipFill>
          <a:blip r:embed="rId2"/>
          <a:stretch>
            <a:fillRect/>
          </a:stretch>
        </p:blipFill>
        <p:spPr>
          <a:xfrm>
            <a:off x="5008879" y="1539240"/>
            <a:ext cx="4080497" cy="4378616"/>
          </a:xfrm>
          <a:prstGeom prst="rect">
            <a:avLst/>
          </a:prstGeom>
        </p:spPr>
      </p:pic>
    </p:spTree>
    <p:extLst>
      <p:ext uri="{BB962C8B-B14F-4D97-AF65-F5344CB8AC3E}">
        <p14:creationId xmlns:p14="http://schemas.microsoft.com/office/powerpoint/2010/main" val="808721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203142-A993-3BF4-8095-B53C36935A5F}"/>
              </a:ext>
            </a:extLst>
          </p:cNvPr>
          <p:cNvSpPr>
            <a:spLocks noGrp="1"/>
          </p:cNvSpPr>
          <p:nvPr>
            <p:ph type="title"/>
          </p:nvPr>
        </p:nvSpPr>
        <p:spPr/>
        <p:txBody>
          <a:bodyPr/>
          <a:lstStyle/>
          <a:p>
            <a:r>
              <a:rPr lang="tr-TR" dirty="0"/>
              <a:t> </a:t>
            </a:r>
          </a:p>
        </p:txBody>
      </p:sp>
      <p:sp>
        <p:nvSpPr>
          <p:cNvPr id="3" name="İçerik Yer Tutucusu 2">
            <a:extLst>
              <a:ext uri="{FF2B5EF4-FFF2-40B4-BE49-F238E27FC236}">
                <a16:creationId xmlns:a16="http://schemas.microsoft.com/office/drawing/2014/main" id="{6335F833-1359-0A57-51F2-A2DD02860FFC}"/>
              </a:ext>
            </a:extLst>
          </p:cNvPr>
          <p:cNvSpPr>
            <a:spLocks noGrp="1"/>
          </p:cNvSpPr>
          <p:nvPr>
            <p:ph idx="1"/>
          </p:nvPr>
        </p:nvSpPr>
        <p:spPr>
          <a:xfrm>
            <a:off x="685331" y="763572"/>
            <a:ext cx="8180145" cy="4696552"/>
          </a:xfrm>
        </p:spPr>
        <p:txBody>
          <a:bodyPr>
            <a:normAutofit fontScale="92500" lnSpcReduction="20000"/>
          </a:bodyPr>
          <a:lstStyle/>
          <a:p>
            <a:pPr marL="0" indent="0" algn="ctr">
              <a:buNone/>
            </a:pPr>
            <a:r>
              <a:rPr lang="tr-TR" b="1" i="1" dirty="0">
                <a:solidFill>
                  <a:srgbClr val="FF0000"/>
                </a:solidFill>
              </a:rPr>
              <a:t>2.  Karşılaşabileceğimiz Zorluklar</a:t>
            </a:r>
          </a:p>
          <a:p>
            <a:pPr marL="0" indent="0">
              <a:buNone/>
            </a:pPr>
            <a:r>
              <a:rPr lang="tr-TR" i="1" cap="none" dirty="0"/>
              <a:t>Geliştirme sürecimizin ilerleyen aşamalarında öngördüğümüz en temel zorluk, projedeki bazı kritik yapıların kodlama sürecinin teknik açıdan karmaşık olmasıdır. </a:t>
            </a:r>
          </a:p>
          <a:p>
            <a:pPr marL="0" indent="0">
              <a:buNone/>
            </a:pPr>
            <a:endParaRPr lang="tr-TR" i="1" cap="none" dirty="0"/>
          </a:p>
          <a:p>
            <a:pPr marL="0" indent="0">
              <a:buNone/>
            </a:pPr>
            <a:r>
              <a:rPr lang="tr-TR" i="1" cap="none" dirty="0"/>
              <a:t>Özellikle forum ve sözlük dinamiklerini sorunsuz bir şekilde tek bir altyapıda birleştirmek, kurgulaması zor bir </a:t>
            </a:r>
            <a:r>
              <a:rPr lang="tr-TR" i="1" cap="none" dirty="0" err="1"/>
              <a:t>veritabanı</a:t>
            </a:r>
            <a:r>
              <a:rPr lang="tr-TR" i="1" cap="none" dirty="0"/>
              <a:t> ve arka plan (</a:t>
            </a:r>
            <a:r>
              <a:rPr lang="tr-TR" i="1" cap="none" dirty="0" err="1"/>
              <a:t>backend</a:t>
            </a:r>
            <a:r>
              <a:rPr lang="tr-TR" i="1" cap="none" dirty="0"/>
              <a:t>) çalışması gerektirecektir.</a:t>
            </a:r>
          </a:p>
          <a:p>
            <a:pPr marL="0" indent="0">
              <a:buNone/>
            </a:pPr>
            <a:endParaRPr lang="tr-TR" i="1" cap="none" dirty="0"/>
          </a:p>
          <a:p>
            <a:pPr marL="0" indent="0">
              <a:buNone/>
            </a:pPr>
            <a:r>
              <a:rPr lang="tr-TR" i="1" cap="none" dirty="0"/>
              <a:t>Buna ek olarak, platforma eklenecek kod parçacıklarının sistemin yapısını bozmadan, okunaklı ve güvenli bir şekilde ekrana yansıtılmasını sağlayacak yapının kurulması ile en iyi cevapları öne çıkaracak oylama algoritmasının kodlanması, uygulama aşamasında mesaimizi en çok alacak ve bizi teknik olarak en çok zorlayacak adımlar olacaktır.</a:t>
            </a:r>
          </a:p>
        </p:txBody>
      </p:sp>
    </p:spTree>
    <p:extLst>
      <p:ext uri="{BB962C8B-B14F-4D97-AF65-F5344CB8AC3E}">
        <p14:creationId xmlns:p14="http://schemas.microsoft.com/office/powerpoint/2010/main" val="3333006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481464-29FB-63EA-724E-0883AED4AD92}"/>
              </a:ext>
            </a:extLst>
          </p:cNvPr>
          <p:cNvSpPr>
            <a:spLocks noGrp="1"/>
          </p:cNvSpPr>
          <p:nvPr>
            <p:ph type="title"/>
          </p:nvPr>
        </p:nvSpPr>
        <p:spPr/>
        <p:txBody>
          <a:bodyPr>
            <a:normAutofit/>
          </a:bodyPr>
          <a:lstStyle/>
          <a:p>
            <a:r>
              <a:rPr lang="tr-TR" b="1" i="1" u="sng" dirty="0">
                <a:solidFill>
                  <a:srgbClr val="FF0000"/>
                </a:solidFill>
                <a:effectLst>
                  <a:outerShdw blurRad="38100" dist="38100" dir="2700000" algn="tl">
                    <a:srgbClr val="000000">
                      <a:alpha val="43137"/>
                    </a:srgbClr>
                  </a:outerShdw>
                </a:effectLst>
              </a:rPr>
              <a:t>Bundan Sonraki Planımız</a:t>
            </a:r>
            <a:br>
              <a:rPr lang="tr-TR" b="1" i="1" u="sng" dirty="0">
                <a:solidFill>
                  <a:srgbClr val="FF0000"/>
                </a:solidFill>
                <a:effectLst>
                  <a:outerShdw blurRad="38100" dist="38100" dir="2700000" algn="tl">
                    <a:srgbClr val="000000">
                      <a:alpha val="43137"/>
                    </a:srgbClr>
                  </a:outerShdw>
                </a:effectLst>
              </a:rPr>
            </a:br>
            <a:endParaRPr lang="tr-TR" dirty="0"/>
          </a:p>
        </p:txBody>
      </p:sp>
      <p:sp>
        <p:nvSpPr>
          <p:cNvPr id="3" name="İçerik Yer Tutucusu 2">
            <a:extLst>
              <a:ext uri="{FF2B5EF4-FFF2-40B4-BE49-F238E27FC236}">
                <a16:creationId xmlns:a16="http://schemas.microsoft.com/office/drawing/2014/main" id="{CAF9A530-D411-DAE0-94C9-6AD2AAA8EDF8}"/>
              </a:ext>
            </a:extLst>
          </p:cNvPr>
          <p:cNvSpPr>
            <a:spLocks noGrp="1"/>
          </p:cNvSpPr>
          <p:nvPr>
            <p:ph idx="1"/>
          </p:nvPr>
        </p:nvSpPr>
        <p:spPr>
          <a:xfrm>
            <a:off x="232307" y="1556616"/>
            <a:ext cx="8679386" cy="4420108"/>
          </a:xfrm>
        </p:spPr>
        <p:txBody>
          <a:bodyPr>
            <a:noAutofit/>
          </a:bodyPr>
          <a:lstStyle/>
          <a:p>
            <a:pPr marL="0" indent="0">
              <a:buNone/>
            </a:pPr>
            <a:r>
              <a:rPr lang="tr-TR" sz="1600" cap="none" dirty="0"/>
              <a:t>Tüm diyagramlar ve modellemeler tamamlandı, sistemin yapısal ve davranışsal tasarımı netleşti. Sıradaki adım, gerçek kodlama aşamasına geçmek olacak. Bu aşamada kullanıcı arayüzü  ve </a:t>
            </a:r>
            <a:r>
              <a:rPr lang="tr-TR" sz="1600" cap="none" dirty="0" err="1"/>
              <a:t>backend</a:t>
            </a:r>
            <a:r>
              <a:rPr lang="tr-TR" sz="1600" cap="none" dirty="0"/>
              <a:t>  geliştirmeleri başlatacağız.</a:t>
            </a:r>
          </a:p>
          <a:p>
            <a:pPr marL="0" indent="0">
              <a:buNone/>
            </a:pPr>
            <a:endParaRPr lang="tr-TR" sz="1600" cap="none" dirty="0"/>
          </a:p>
          <a:p>
            <a:pPr marL="0" indent="0">
              <a:buNone/>
            </a:pPr>
            <a:r>
              <a:rPr lang="tr-TR" sz="1600" cap="none" dirty="0"/>
              <a:t>Ancak, ekip olarak kod bilgimiz ve tecrübemiz sınırlı, bu yüzden süreci küçük ve yönetilebilir modüllerle ilerleteceğiz. Öncelikle temel işlevleri hayata geçireceğiz: kullanıcı kayıt ve giriş işlemleri, başlık açma ve </a:t>
            </a:r>
            <a:r>
              <a:rPr lang="tr-TR" sz="1600" cap="none" dirty="0" err="1"/>
              <a:t>entry</a:t>
            </a:r>
            <a:r>
              <a:rPr lang="tr-TR" sz="1600" cap="none" dirty="0"/>
              <a:t> yazma gibi kritik fonksiyonlar çalışır hale getirilecek. Böylece hem öğrenme sürecimiz devam edecek hem de sistemin temel işleyişini test edebileceğiz.</a:t>
            </a:r>
          </a:p>
          <a:p>
            <a:pPr marL="0" indent="0">
              <a:buNone/>
            </a:pPr>
            <a:endParaRPr lang="tr-TR" sz="1600" cap="none" dirty="0"/>
          </a:p>
          <a:p>
            <a:pPr marL="0" indent="0">
              <a:buNone/>
            </a:pPr>
            <a:r>
              <a:rPr lang="tr-TR" sz="1600" cap="none" dirty="0"/>
              <a:t>Sonraki aşamalarda, arama motoru entegrasyonu, admin </a:t>
            </a:r>
            <a:r>
              <a:rPr lang="tr-TR" sz="1600" cap="none" dirty="0" err="1"/>
              <a:t>moderasyon</a:t>
            </a:r>
            <a:r>
              <a:rPr lang="tr-TR" sz="1600" cap="none" dirty="0"/>
              <a:t> modülü ve </a:t>
            </a:r>
            <a:r>
              <a:rPr lang="tr-TR" sz="1600" cap="none" dirty="0" err="1"/>
              <a:t>sayfalandırma</a:t>
            </a:r>
            <a:r>
              <a:rPr lang="tr-TR" sz="1600" cap="none" dirty="0"/>
              <a:t> gibi daha karmaşık işlevler adım adım eklenerek sistem tamamlanacak.</a:t>
            </a:r>
          </a:p>
          <a:p>
            <a:pPr marL="0" indent="0">
              <a:buNone/>
            </a:pPr>
            <a:endParaRPr lang="tr-TR" sz="1600" cap="none" dirty="0"/>
          </a:p>
          <a:p>
            <a:pPr marL="0" indent="0">
              <a:buNone/>
            </a:pPr>
            <a:r>
              <a:rPr lang="tr-TR" sz="1600" cap="none" dirty="0"/>
              <a:t>Bunları yaparken ise daha önce yapılmış projelerden ve yapay zekadan kısmi bilgiler almayı düşünüyoruz.</a:t>
            </a:r>
          </a:p>
        </p:txBody>
      </p:sp>
    </p:spTree>
    <p:extLst>
      <p:ext uri="{BB962C8B-B14F-4D97-AF65-F5344CB8AC3E}">
        <p14:creationId xmlns:p14="http://schemas.microsoft.com/office/powerpoint/2010/main" val="1377118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11681B9-2111-0F28-22DF-54F6150DD520}"/>
              </a:ext>
            </a:extLst>
          </p:cNvPr>
          <p:cNvSpPr>
            <a:spLocks noGrp="1"/>
          </p:cNvSpPr>
          <p:nvPr>
            <p:ph type="title"/>
          </p:nvPr>
        </p:nvSpPr>
        <p:spPr>
          <a:xfrm>
            <a:off x="192740" y="180746"/>
            <a:ext cx="8229600" cy="1143000"/>
          </a:xfrm>
        </p:spPr>
        <p:txBody>
          <a:bodyPr/>
          <a:lstStyle/>
          <a:p>
            <a:r>
              <a:rPr lang="tr-TR" dirty="0"/>
              <a:t> </a:t>
            </a:r>
          </a:p>
        </p:txBody>
      </p:sp>
      <p:sp>
        <p:nvSpPr>
          <p:cNvPr id="3" name="İçerik Yer Tutucusu 2">
            <a:extLst>
              <a:ext uri="{FF2B5EF4-FFF2-40B4-BE49-F238E27FC236}">
                <a16:creationId xmlns:a16="http://schemas.microsoft.com/office/drawing/2014/main" id="{7B8901AD-EFAE-17D2-2726-6FFA41C17CF4}"/>
              </a:ext>
            </a:extLst>
          </p:cNvPr>
          <p:cNvSpPr>
            <a:spLocks noGrp="1"/>
          </p:cNvSpPr>
          <p:nvPr>
            <p:ph idx="1"/>
          </p:nvPr>
        </p:nvSpPr>
        <p:spPr/>
        <p:txBody>
          <a:bodyPr>
            <a:normAutofit/>
          </a:bodyPr>
          <a:lstStyle/>
          <a:p>
            <a:pPr marL="0" indent="0" algn="ctr">
              <a:buNone/>
            </a:pPr>
            <a:r>
              <a:rPr lang="tr-TR" sz="3600" dirty="0"/>
              <a:t>DİNLEDİĞİNİZ İÇİN TEŞEKKÜRLER…</a:t>
            </a:r>
          </a:p>
        </p:txBody>
      </p:sp>
    </p:spTree>
    <p:extLst>
      <p:ext uri="{BB962C8B-B14F-4D97-AF65-F5344CB8AC3E}">
        <p14:creationId xmlns:p14="http://schemas.microsoft.com/office/powerpoint/2010/main" val="3999948591"/>
      </p:ext>
    </p:extLst>
  </p:cSld>
  <p:clrMapOvr>
    <a:masterClrMapping/>
  </p:clrMapOvr>
</p:sld>
</file>

<file path=ppt/theme/theme1.xml><?xml version="1.0" encoding="utf-8"?>
<a:theme xmlns:a="http://schemas.openxmlformats.org/drawingml/2006/main" name="Damla">
  <a:themeElements>
    <a:clrScheme name="Daml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aml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l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TM04033925[[fn=Damla]]</Template>
  <TotalTime>174</TotalTime>
  <Words>1230</Words>
  <Application>Microsoft Office PowerPoint</Application>
  <PresentationFormat>Ekran Gösterisi (4:3)</PresentationFormat>
  <Paragraphs>134</Paragraphs>
  <Slides>16</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16</vt:i4>
      </vt:variant>
    </vt:vector>
  </HeadingPairs>
  <TitlesOfParts>
    <vt:vector size="21" baseType="lpstr">
      <vt:lpstr>Arial</vt:lpstr>
      <vt:lpstr>Google Sans</vt:lpstr>
      <vt:lpstr>Google Sans Text</vt:lpstr>
      <vt:lpstr>Tw Cen MT</vt:lpstr>
      <vt:lpstr>Damla</vt:lpstr>
      <vt:lpstr>YAZILIMCI BİRLEŞTİRME PLATFORMU PROJESİ</vt:lpstr>
      <vt:lpstr>Proje Amacı</vt:lpstr>
      <vt:lpstr> Problem Tanımı </vt:lpstr>
      <vt:lpstr>Önerilen Çözüm</vt:lpstr>
      <vt:lpstr>Hedef Kullanıcılar</vt:lpstr>
      <vt:lpstr>Temel İşlevler</vt:lpstr>
      <vt:lpstr>Proje Kapsamı</vt:lpstr>
      <vt:lpstr>ŞİMDİYE KADAR Yapılan Çalışmalar</vt:lpstr>
      <vt:lpstr>Gereksinimler</vt:lpstr>
      <vt:lpstr>Use Case Diyagramı</vt:lpstr>
      <vt:lpstr> Class Diyagramı</vt:lpstr>
      <vt:lpstr>State(Durum) Diyagramı</vt:lpstr>
      <vt:lpstr>Activity Diyagramı</vt:lpstr>
      <vt:lpstr> </vt:lpstr>
      <vt:lpstr>Bundan Sonraki Planımız </vt:lpstr>
      <vt:lpstr>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Tevfik Görel</dc:creator>
  <cp:keywords/>
  <dc:description>generated using python-pptx</dc:description>
  <cp:lastModifiedBy>HAMZA ERGÜVEN</cp:lastModifiedBy>
  <cp:revision>8</cp:revision>
  <dcterms:created xsi:type="dcterms:W3CDTF">2013-01-27T09:14:16Z</dcterms:created>
  <dcterms:modified xsi:type="dcterms:W3CDTF">2026-04-06T10:55:16Z</dcterms:modified>
  <cp:category/>
</cp:coreProperties>
</file>